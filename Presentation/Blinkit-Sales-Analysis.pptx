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Syne"/>
      <p:regular r:id="rId201314"/>
    </p:embeddedFont>
    <p:embeddedFont>
      <p:font typeface="Syne Medium"/>
      <p:regular r:id="rId201315"/>
    </p:embeddedFont>
    <p:embeddedFont>
      <p:font typeface="Syne SemiBold"/>
      <p:regular r:id="rId201316"/>
    </p:embeddedFont>
    <p:embeddedFont>
      <p:font typeface="Syne Bold"/>
      <p:regular r:id="rId201317"/>
    </p:embeddedFont>
    <p:embeddedFont>
      <p:font typeface="Syne Extra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7.png"/><Relationship Id="rId10" Type="http://schemas.openxmlformats.org/officeDocument/2006/relationships/image" Target="../media/image-10-8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822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Blinkit Sales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 data-driven exploration of retail sales performance, customer preferences, and outlet efficiency — using Excel, Python, and Power BI to uncover actionable business insights.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6964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Dataset Overview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43335"/>
            <a:ext cx="5177582" cy="29123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1366986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Dataset Size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24339" y="1730201"/>
            <a:ext cx="308543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8,523 rows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across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12 parameters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024339" y="2098774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Key Columns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24339" y="2461989"/>
            <a:ext cx="2628230" cy="2062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Item Fat Content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— Low Fat or Regular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Item Type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— Category (Dairy, Fruits, Snacks, etc.)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Outlet Location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— Tier 1, 2, or 3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Outlet Size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— Small, Medium, High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Sales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— Target metric for analysis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Rating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— Customer product rating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6106"/>
            <a:ext cx="4722763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Python Data Preparation</a:t>
            </a:r>
            <a:endParaRPr lang="en-US" sz="2550" dirty="0"/>
          </a:p>
        </p:txBody>
      </p:sp>
      <p:sp>
        <p:nvSpPr>
          <p:cNvPr id="4" name="Shape 1"/>
          <p:cNvSpPr/>
          <p:nvPr/>
        </p:nvSpPr>
        <p:spPr>
          <a:xfrm>
            <a:off x="496119" y="1393552"/>
            <a:ext cx="4722763" cy="748085"/>
          </a:xfrm>
          <a:prstGeom prst="roundRect">
            <a:avLst>
              <a:gd name="adj" fmla="val 7337"/>
            </a:avLst>
          </a:prstGeom>
          <a:solidFill>
            <a:srgbClr val="547808"/>
          </a:solidFill>
          <a:ln w="4763">
            <a:solidFill>
              <a:srgbClr val="6D912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1552" y="1528986"/>
            <a:ext cx="445189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Null Values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31552" y="1805360"/>
            <a:ext cx="445189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1,463 nulls in Item Weight — filled using group-by mean per Item Identifier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96119" y="2262113"/>
            <a:ext cx="4722763" cy="748085"/>
          </a:xfrm>
          <a:prstGeom prst="roundRect">
            <a:avLst>
              <a:gd name="adj" fmla="val 7337"/>
            </a:avLst>
          </a:prstGeom>
          <a:solidFill>
            <a:srgbClr val="547808"/>
          </a:solidFill>
          <a:ln w="4763">
            <a:solidFill>
              <a:srgbClr val="6D912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1552" y="2397547"/>
            <a:ext cx="445189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Duplicates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31552" y="2673921"/>
            <a:ext cx="445189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No duplicate records found in the dataset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96119" y="3130674"/>
            <a:ext cx="4722763" cy="748085"/>
          </a:xfrm>
          <a:prstGeom prst="roundRect">
            <a:avLst>
              <a:gd name="adj" fmla="val 7337"/>
            </a:avLst>
          </a:prstGeom>
          <a:solidFill>
            <a:srgbClr val="547808"/>
          </a:solidFill>
          <a:ln w="4763">
            <a:solidFill>
              <a:srgbClr val="6D912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1552" y="3266108"/>
            <a:ext cx="445189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Standardization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31552" y="3542481"/>
            <a:ext cx="445189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Column names converted to snake_case; float values rounded to 2 decimals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96119" y="3999235"/>
            <a:ext cx="4722763" cy="748085"/>
          </a:xfrm>
          <a:prstGeom prst="roundRect">
            <a:avLst>
              <a:gd name="adj" fmla="val 7337"/>
            </a:avLst>
          </a:prstGeom>
          <a:solidFill>
            <a:srgbClr val="547808"/>
          </a:solidFill>
          <a:ln w="4763">
            <a:solidFill>
              <a:srgbClr val="6D912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1552" y="4134669"/>
            <a:ext cx="445189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SQL Export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31552" y="4411042"/>
            <a:ext cx="445189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Data imported into SQL via SQLAlchemy for structured analysis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43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Key Metrics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51719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₹12L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496119" y="1896666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Total Sales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203177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Across all outlets and items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0553" y="1251719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141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4660553" y="1896666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Avg. Sales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0553" y="2203177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Per transaction record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6119" y="2784351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8,523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496119" y="3429298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Total Items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6119" y="3735809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Records in dataset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0553" y="2784351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3.97</a:t>
            </a:r>
            <a:endParaRPr lang="en-US" sz="3650" dirty="0"/>
          </a:p>
        </p:txBody>
      </p:sp>
      <p:sp>
        <p:nvSpPr>
          <p:cNvPr id="13" name="Text 11"/>
          <p:cNvSpPr/>
          <p:nvPr/>
        </p:nvSpPr>
        <p:spPr>
          <a:xfrm>
            <a:off x="4660553" y="3429298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Avg. Rating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60553" y="3735809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Customer product rating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6119" y="4122093"/>
            <a:ext cx="8151763" cy="566961"/>
          </a:xfrm>
          <a:prstGeom prst="roundRect">
            <a:avLst>
              <a:gd name="adj" fmla="val 10502"/>
            </a:avLst>
          </a:prstGeom>
          <a:solidFill>
            <a:srgbClr val="547808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4322862"/>
            <a:ext cx="177180" cy="14175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56816" y="4299272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Outlet lifespan spans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11 years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(2011–2022), providing a robust longitudinal view of sales trends.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8316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Low Fat Products Dominate Sales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1636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698650"/>
            <a:ext cx="390294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Customer Preference is Clear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2283321"/>
            <a:ext cx="3902943" cy="1261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Low Fat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products account for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54780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64.6% of total sales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and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64.73% of orders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— a strong signal of health-conscious buying behavior.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Regular Fat products make up the remaining ~35% of both sales and orders.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Top Product Categories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Revenue Leaders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1034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Fruits &amp; Vegetables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and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Snack Foods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together drive nearly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54780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30% of all sales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and order volumes — the strongest-performing categories on the platform.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Household, Frozen Foods, and Dairy round out the top five.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8316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Outlet Performance: Sales &amp; Orders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1636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69865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Top Outlets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2061865"/>
            <a:ext cx="3902943" cy="1261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top 8 outlets each contribute ~10.7–11.1% of total sales, showing a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balanced distribution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 OUT010 and OUT019 contribute notably less (~6.5% and 6.1%).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Order distribution closely mirrors sales share across all top outlets.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Location, Size &amp; Outlet Type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Where the Demand Is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123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Tier 3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leads with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54780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39.29%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of sales — strongest market potential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Medium-sized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outlets deliver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54780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42.27%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of sales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Supermarket Type1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dominates with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54780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65.54%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of all sales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Sales Trend Over Time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682154"/>
            <a:ext cx="8151763" cy="45649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5286896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2018 was a standout year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, contributing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54780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17.02% of total sales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and 17.17% of orders — significantly above the ~11% average of other years. 2011 had the lowest contribution at 6.50%.</a:t>
            </a:r>
            <a:endParaRPr lang="en-US" sz="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7384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Key Insights &amp; Recommendations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666875"/>
            <a:ext cx="2622724" cy="1307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3127" y="1827684"/>
            <a:ext cx="2224906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🥗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 Expand Low Fat Portfolio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33127" y="2360414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65% of sales come from Low Fat products — invest in this segment.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1666875"/>
            <a:ext cx="2622724" cy="1307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97610" y="1827684"/>
            <a:ext cx="2224906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🥦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 Prioritize Fruits &amp; Snacks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497610" y="2360414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Top revenue categories — maintain inventory and boost visibility.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5083" y="1666875"/>
            <a:ext cx="2622724" cy="1307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62092" y="1827684"/>
            <a:ext cx="2224906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📍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 Target Tier 3 Markets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262092" y="2360414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Highest sales share (39%) — ideal for expansion.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116610"/>
            <a:ext cx="2622724" cy="15294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3127" y="3277419"/>
            <a:ext cx="2224906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🏪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 Scale Medium Stores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33127" y="3810149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Best sales-to-capacity balance — prioritize this format.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60601" y="3116610"/>
            <a:ext cx="2622724" cy="15294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497610" y="3277419"/>
            <a:ext cx="2224906" cy="669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🛒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 Replicate Supermarket Type1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497610" y="4031605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65% of sales — replicate its model across other formats.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2026-07-22T05:52:49Z</dcterms:created>
  <dcterms:modified xsi:type="dcterms:W3CDTF">2026-07-22T05:52:49Z</dcterms:modified>
</cp:coreProperties>
</file>